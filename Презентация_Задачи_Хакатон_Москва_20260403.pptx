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85" r:id="rId2"/>
    <p:sldId id="283" r:id="rId3"/>
    <p:sldId id="312" r:id="rId4"/>
    <p:sldId id="323" r:id="rId5"/>
    <p:sldId id="336" r:id="rId6"/>
    <p:sldId id="321" r:id="rId7"/>
    <p:sldId id="324" r:id="rId8"/>
    <p:sldId id="337" r:id="rId9"/>
  </p:sldIdLst>
  <p:sldSz cx="12192000" cy="6858000"/>
  <p:notesSz cx="6858000" cy="9144000"/>
  <p:embeddedFontLst>
    <p:embeddedFont>
      <p:font typeface="Montserrat" panose="020B0604020202020204" charset="-52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5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483" userDrawn="1">
          <p15:clr>
            <a:srgbClr val="A4A3A4"/>
          </p15:clr>
        </p15:guide>
        <p15:guide id="7" orient="horz" pos="1344" userDrawn="1">
          <p15:clr>
            <a:srgbClr val="A4A3A4"/>
          </p15:clr>
        </p15:guide>
        <p15:guide id="8" pos="4384" userDrawn="1">
          <p15:clr>
            <a:srgbClr val="A4A3A4"/>
          </p15:clr>
        </p15:guide>
        <p15:guide id="9" orient="horz" pos="4178" userDrawn="1">
          <p15:clr>
            <a:srgbClr val="A4A3A4"/>
          </p15:clr>
        </p15:guide>
        <p15:guide id="10" orient="horz" pos="37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46E9"/>
    <a:srgbClr val="8812F8"/>
    <a:srgbClr val="A144DF"/>
    <a:srgbClr val="F56F82"/>
    <a:srgbClr val="52DA9C"/>
    <a:srgbClr val="4CE061"/>
    <a:srgbClr val="75E785"/>
    <a:srgbClr val="86D6B2"/>
    <a:srgbClr val="FF4B90"/>
    <a:srgbClr val="FFB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07" autoAdjust="0"/>
  </p:normalViewPr>
  <p:slideViewPr>
    <p:cSldViewPr snapToGrid="0">
      <p:cViewPr varScale="1">
        <p:scale>
          <a:sx n="97" d="100"/>
          <a:sy n="97" d="100"/>
        </p:scale>
        <p:origin x="822" y="72"/>
      </p:cViewPr>
      <p:guideLst>
        <p:guide pos="665"/>
        <p:guide orient="horz" pos="958"/>
        <p:guide pos="7378"/>
        <p:guide pos="483"/>
        <p:guide orient="horz" pos="1344"/>
        <p:guide pos="4384"/>
        <p:guide orient="horz" pos="4178"/>
        <p:guide orient="horz" pos="372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8DAED65-A3B5-EF1E-709A-5716DCD7A0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407"/>
            <a:ext cx="12192000" cy="684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A96404-9F67-BE51-3430-073FAB8793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822"/>
            <a:ext cx="12192000" cy="685235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979F118-5B32-48F5-7F49-CCE5E04026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47"/>
          <a:stretch/>
        </p:blipFill>
        <p:spPr>
          <a:xfrm>
            <a:off x="764167" y="257534"/>
            <a:ext cx="1725033" cy="47398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C7C422F-9FF7-7DE6-A119-B04238FCB6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3040" y="257534"/>
            <a:ext cx="3520123" cy="31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1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свет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C4AFFD-A915-AD61-83F4-523C0671CD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67" y="257534"/>
            <a:ext cx="2936075" cy="4739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A6006E-C718-86D6-6C5B-339CC11C72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040" y="257534"/>
            <a:ext cx="3520123" cy="31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1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бе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6D3C25-665C-4A11-9A7A-6B8446D79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858" y="4681443"/>
            <a:ext cx="12934258" cy="435311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E5CBC9-407E-4B1C-BE80-F73473A13D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858" y="-2899051"/>
            <a:ext cx="16565709" cy="451149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C456BA0-6DC5-4BC9-91C2-8796C8AFCD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5422" y="282162"/>
            <a:ext cx="1870051" cy="26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5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11777-2D0E-4DC7-8D02-B03A84C7C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2F645C-ACD2-4F23-B3B0-2E17E0C04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5656B6-3686-493F-969D-99386409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142335-CB95-4B9C-AD58-83841EAC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51BE4-1972-43DA-B151-6349C7FD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3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76318-B6F5-4069-9C17-C6A37C20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AE68D-EE47-4444-818D-19864F5D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D58A7E-AE57-47CE-A2EC-8DC1E8A2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E462B3-F4EB-481F-9843-AE8A77BD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8266FF-E9E6-4EEE-8639-83D7A0F7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70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D4D93-5CDE-4323-B0FE-5770F17F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CCF3BF-92DD-4837-B048-50B1F35A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0D446D-3404-4E5C-B647-B32F2151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A821F4-F84F-4F20-A7BC-EBF219EF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67AB73-487B-46D6-83FB-83ABB345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3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7DB59-76BE-43C7-B539-41A45FCE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ECD85-BB49-4494-A90A-C4CE3F5FD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3AA0FC-012E-4169-BF9F-465BB52E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476E15-C5E2-41E3-94C6-4EE9174B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25E5D5-0124-469C-9392-3408F6BA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E9A91D-92F6-4710-8C8E-FB666BDB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92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ABA37-0E66-4F23-B68E-76C8070B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1E0814-38A1-4571-934E-F5C5B031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8D5480-642C-43B2-9AB9-904419BD1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AE5204-257F-4CFC-9CCE-2FC7AEF2C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A185B1-74FB-4565-B5D4-DA5B8CDFA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527D13-4E90-407C-A6EF-7044BF9F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C7B791-FA18-45E9-808F-6DE5373D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76BD503-7284-49F1-AB94-49BF4C5B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64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21A9F-E9CF-4068-BE4D-91DE0567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9B7A55-D074-4178-9520-FB3D0B69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3A189E-D07C-4222-864E-398C70CA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78A699-1895-436B-9430-F6811601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67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741943-7543-4228-8815-1A93D8955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DB3F19-B697-4298-AED1-EF0B5D6E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83DFAC-082C-405B-BB52-B03C65F1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683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7C2CD-8949-4D1C-9731-16EDDEBF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1C8E7-A9AC-421A-AC51-1F0BC1A5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3779D8-C1F9-4F02-A2C9-68E26549A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AD9173-0C63-4717-99B9-C582D669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F4D033-1394-45EB-A46C-CE2B0934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7D92CD-B3DA-4646-AC35-F6132116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3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83C9A-EDFB-4F6B-B224-67CEDE11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00BA1A-69B1-45BD-99D4-44B13433A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15CFBD-3727-4722-874A-C280E0D25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D19337-73DF-4C13-9A7C-79BDF1BE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F9EDFA-7240-49D7-9D57-4C4B5302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F1A9BC-FCCF-46AF-A726-4526D35F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583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F22F9-4973-42D4-B3A8-B9629DE4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B00448-0126-46EE-AAF9-8DFCD71D0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82BDEC-1F58-42BE-8A03-3A8A14E0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AEF4CE-9AF8-4EDB-9B7F-CF48DD5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83D9E3-C167-4910-A624-E8E915DB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817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9C197F-B8CE-4015-98CC-57FB921AF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B45C93-10F3-46DB-A0EC-A3D832348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F046B0-B92C-469A-B9DD-F048F4F6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C4AB2D-E22E-4DA8-B3CA-7F902426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1A1499-05C2-4046-93ED-71C45217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77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4D29B-0DCE-40A5-802D-339E1DF4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413B56-28C8-490B-B2D0-F612A377D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36041-A755-4910-94A1-8E244B27E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3E8A2-7EC1-4E9C-890C-422ABFA2B79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C325A3-7912-4954-A12A-4B6A3F922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9368B5-78C3-40AE-B3C1-48AC8A05F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CDE1C-6FB3-4F49-A9E3-1150D25FD0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61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3" r:id="rId4"/>
    <p:sldLayoutId id="2147483660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ZrPvVooGg_WQGQ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30B30F-6CD8-4B84-99C3-A782718D08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30214" y="3516011"/>
            <a:ext cx="6559580" cy="1555993"/>
          </a:xfrm>
        </p:spPr>
        <p:txBody>
          <a:bodyPr>
            <a:noAutofit/>
          </a:bodyPr>
          <a:lstStyle/>
          <a:p>
            <a:r>
              <a:rPr lang="ru-RU" sz="2800" b="1" dirty="0"/>
              <a:t>Разработка</a:t>
            </a:r>
            <a:r>
              <a:rPr lang="en-US" sz="2800" b="1" dirty="0"/>
              <a:t> </a:t>
            </a:r>
            <a:r>
              <a:rPr lang="ru-RU" sz="2800" b="1" dirty="0"/>
              <a:t>персонализированного умного поиска продукции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8326C40-8977-4D82-A054-B9861664E961}"/>
              </a:ext>
            </a:extLst>
          </p:cNvPr>
          <p:cNvGrpSpPr/>
          <p:nvPr/>
        </p:nvGrpSpPr>
        <p:grpSpPr>
          <a:xfrm rot="2700000">
            <a:off x="13204783" y="-7023163"/>
            <a:ext cx="186933" cy="337061"/>
            <a:chOff x="9064822" y="-3168367"/>
            <a:chExt cx="186933" cy="337061"/>
          </a:xfrm>
        </p:grpSpPr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8BC1C609-AF25-45A8-891B-2875FE6DE06C}"/>
                </a:ext>
              </a:extLst>
            </p:cNvPr>
            <p:cNvCxnSpPr/>
            <p:nvPr userDrawn="1"/>
          </p:nvCxnSpPr>
          <p:spPr>
            <a:xfrm>
              <a:off x="9215438" y="-3107531"/>
              <a:ext cx="0" cy="2762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E1D6AFC1-D75F-4066-BC93-7F36488F2F13}"/>
                </a:ext>
              </a:extLst>
            </p:cNvPr>
            <p:cNvCxnSpPr>
              <a:cxnSpLocks/>
            </p:cNvCxnSpPr>
            <p:nvPr userDrawn="1"/>
          </p:nvCxnSpPr>
          <p:spPr>
            <a:xfrm rot="18900000" flipH="1">
              <a:off x="9064822" y="-3168367"/>
              <a:ext cx="186933" cy="1869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659D7D4-F6F0-4ED2-B64A-EB8F27E245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98757" y="-3107531"/>
              <a:ext cx="0" cy="1648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10427FD6-216C-42D6-A2F6-CD449AB759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15383" y="4048628"/>
            <a:ext cx="7175687" cy="2249826"/>
            <a:chOff x="4481184" y="4558831"/>
            <a:chExt cx="5507969" cy="1726939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EA730B0D-2C82-41FE-9330-484A77CA03C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00531" y="5692905"/>
              <a:ext cx="130742" cy="130742"/>
              <a:chOff x="9339404" y="-3787775"/>
              <a:chExt cx="146050" cy="146050"/>
            </a:xfrm>
          </p:grpSpPr>
          <p:cxnSp>
            <p:nvCxnSpPr>
              <p:cNvPr id="87" name="Прямая соединительная линия 86">
                <a:extLst>
                  <a:ext uri="{FF2B5EF4-FFF2-40B4-BE49-F238E27FC236}">
                    <a16:creationId xmlns:a16="http://schemas.microsoft.com/office/drawing/2014/main" id="{18DA6C75-EEBC-4EA1-990A-934F26A7354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Прямая соединительная линия 87">
                <a:extLst>
                  <a:ext uri="{FF2B5EF4-FFF2-40B4-BE49-F238E27FC236}">
                    <a16:creationId xmlns:a16="http://schemas.microsoft.com/office/drawing/2014/main" id="{37A4BBAE-6AB9-43B5-BF6A-ED2A3F1A8B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57B5BE39-AF8A-4190-9181-5D759841D3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700000">
              <a:off x="5972431" y="5348329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EC1F606E-0044-4883-A9F3-9B96243E6FA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700000">
              <a:off x="6423015" y="4654141"/>
              <a:ext cx="63062" cy="307908"/>
              <a:chOff x="9110006" y="-3107531"/>
              <a:chExt cx="48282" cy="235743"/>
            </a:xfrm>
          </p:grpSpPr>
          <p:cxnSp>
            <p:nvCxnSpPr>
              <p:cNvPr id="91" name="Прямая соединительная линия 90">
                <a:extLst>
                  <a:ext uri="{FF2B5EF4-FFF2-40B4-BE49-F238E27FC236}">
                    <a16:creationId xmlns:a16="http://schemas.microsoft.com/office/drawing/2014/main" id="{B5E7A669-4D85-4A01-83D1-95CA4E8D7FD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Прямая соединительная линия 91">
                <a:extLst>
                  <a:ext uri="{FF2B5EF4-FFF2-40B4-BE49-F238E27FC236}">
                    <a16:creationId xmlns:a16="http://schemas.microsoft.com/office/drawing/2014/main" id="{D475E163-5B74-4EF1-A1F7-D9D0A0E166E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10006" y="-305812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Группа 92">
              <a:extLst>
                <a:ext uri="{FF2B5EF4-FFF2-40B4-BE49-F238E27FC236}">
                  <a16:creationId xmlns:a16="http://schemas.microsoft.com/office/drawing/2014/main" id="{F8264230-C5CB-48ED-A356-A2411A87037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790443" y="5626282"/>
              <a:ext cx="606686" cy="606684"/>
              <a:chOff x="10047397" y="-3072720"/>
              <a:chExt cx="293166" cy="293165"/>
            </a:xfrm>
          </p:grpSpPr>
          <p:cxnSp>
            <p:nvCxnSpPr>
              <p:cNvPr id="94" name="Прямая соединительная линия 93">
                <a:extLst>
                  <a:ext uri="{FF2B5EF4-FFF2-40B4-BE49-F238E27FC236}">
                    <a16:creationId xmlns:a16="http://schemas.microsoft.com/office/drawing/2014/main" id="{05E55808-21D7-4445-9015-491A60EFD1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" name="Прямая соединительная линия 94">
                <a:extLst>
                  <a:ext uri="{FF2B5EF4-FFF2-40B4-BE49-F238E27FC236}">
                    <a16:creationId xmlns:a16="http://schemas.microsoft.com/office/drawing/2014/main" id="{CC53FD0A-2BD7-47FC-961A-4EEA512CB9B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4335D24C-F3A4-4B91-A54C-1DB1719D14D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753578" y="5209514"/>
              <a:ext cx="209911" cy="209911"/>
              <a:chOff x="9339404" y="-3787775"/>
              <a:chExt cx="146050" cy="146050"/>
            </a:xfrm>
          </p:grpSpPr>
          <p:cxnSp>
            <p:nvCxnSpPr>
              <p:cNvPr id="97" name="Прямая соединительная линия 96">
                <a:extLst>
                  <a:ext uri="{FF2B5EF4-FFF2-40B4-BE49-F238E27FC236}">
                    <a16:creationId xmlns:a16="http://schemas.microsoft.com/office/drawing/2014/main" id="{96BF80F8-2A94-46CE-995F-CF7BD18634C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" name="Прямая соединительная линия 97">
                <a:extLst>
                  <a:ext uri="{FF2B5EF4-FFF2-40B4-BE49-F238E27FC236}">
                    <a16:creationId xmlns:a16="http://schemas.microsoft.com/office/drawing/2014/main" id="{D8822B53-7480-464C-8D7B-8C41853AA6B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id="{D9BC34D0-2921-4CE2-A52A-DE87766694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700000">
              <a:off x="9936177" y="6033771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94CD42B7-2748-4597-828C-BAF4F91264F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700000">
              <a:off x="8906625" y="5510543"/>
              <a:ext cx="116681" cy="276225"/>
              <a:chOff x="9098757" y="-3107531"/>
              <a:chExt cx="116681" cy="276225"/>
            </a:xfrm>
          </p:grpSpPr>
          <p:cxnSp>
            <p:nvCxnSpPr>
              <p:cNvPr id="102" name="Прямая соединительная линия 101">
                <a:extLst>
                  <a:ext uri="{FF2B5EF4-FFF2-40B4-BE49-F238E27FC236}">
                    <a16:creationId xmlns:a16="http://schemas.microsoft.com/office/drawing/2014/main" id="{06C1088F-9F34-4F77-AE3E-84D8CBF5CD5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Прямая соединительная линия 102">
                <a:extLst>
                  <a:ext uri="{FF2B5EF4-FFF2-40B4-BE49-F238E27FC236}">
                    <a16:creationId xmlns:a16="http://schemas.microsoft.com/office/drawing/2014/main" id="{2934F406-85A6-4DF8-BF9F-7EAD42089A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58288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Прямая соединительная линия 103">
                <a:extLst>
                  <a:ext uri="{FF2B5EF4-FFF2-40B4-BE49-F238E27FC236}">
                    <a16:creationId xmlns:a16="http://schemas.microsoft.com/office/drawing/2014/main" id="{A8583044-1E89-4C69-87FE-06E09F852E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1" name="Прямоугольник 170">
              <a:extLst>
                <a:ext uri="{FF2B5EF4-FFF2-40B4-BE49-F238E27FC236}">
                  <a16:creationId xmlns:a16="http://schemas.microsoft.com/office/drawing/2014/main" id="{9E652973-D356-4DFA-9264-1AA750EC80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700000">
              <a:off x="8288610" y="6143578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73" name="Группа 172">
              <a:extLst>
                <a:ext uri="{FF2B5EF4-FFF2-40B4-BE49-F238E27FC236}">
                  <a16:creationId xmlns:a16="http://schemas.microsoft.com/office/drawing/2014/main" id="{71E463EF-D46F-43BA-8FC8-1EB4B506233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700000">
              <a:off x="4603607" y="5224631"/>
              <a:ext cx="63062" cy="307908"/>
              <a:chOff x="9110006" y="-3107531"/>
              <a:chExt cx="48282" cy="235743"/>
            </a:xfrm>
          </p:grpSpPr>
          <p:cxnSp>
            <p:nvCxnSpPr>
              <p:cNvPr id="174" name="Прямая соединительная линия 173">
                <a:extLst>
                  <a:ext uri="{FF2B5EF4-FFF2-40B4-BE49-F238E27FC236}">
                    <a16:creationId xmlns:a16="http://schemas.microsoft.com/office/drawing/2014/main" id="{C43A108B-1E7F-4693-8FEE-3F0C301900D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Прямая соединительная линия 174">
                <a:extLst>
                  <a:ext uri="{FF2B5EF4-FFF2-40B4-BE49-F238E27FC236}">
                    <a16:creationId xmlns:a16="http://schemas.microsoft.com/office/drawing/2014/main" id="{B3F4628D-E846-41BB-BCEB-516C6696DD6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10006" y="-305812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Прямоугольник 175">
              <a:extLst>
                <a:ext uri="{FF2B5EF4-FFF2-40B4-BE49-F238E27FC236}">
                  <a16:creationId xmlns:a16="http://schemas.microsoft.com/office/drawing/2014/main" id="{C60D77EC-71FA-440D-83B6-99773FBD1F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700000">
              <a:off x="8186974" y="4558831"/>
              <a:ext cx="315152" cy="315152"/>
            </a:xfrm>
            <a:prstGeom prst="rect">
              <a:avLst/>
            </a:prstGeom>
            <a:noFill/>
            <a:ln w="63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</p:grp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CB48CA8E-432B-4F80-B48D-0A0E44EA79E5}"/>
              </a:ext>
            </a:extLst>
          </p:cNvPr>
          <p:cNvGrpSpPr/>
          <p:nvPr/>
        </p:nvGrpSpPr>
        <p:grpSpPr>
          <a:xfrm>
            <a:off x="701278" y="695003"/>
            <a:ext cx="3561914" cy="1427248"/>
            <a:chOff x="2182147" y="484519"/>
            <a:chExt cx="3561914" cy="1427248"/>
          </a:xfrm>
        </p:grpSpPr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1DE1BB9F-29CA-49C8-8405-F68776B1DE22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57" name="Прямая соединительная линия 56">
                <a:extLst>
                  <a:ext uri="{FF2B5EF4-FFF2-40B4-BE49-F238E27FC236}">
                    <a16:creationId xmlns:a16="http://schemas.microsoft.com/office/drawing/2014/main" id="{CBDD5141-2018-4C9C-ACB6-5F94ADFE25B4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id="{75F3DB04-4EEE-4AC4-B947-FC8D4629B8C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Прямая соединительная линия 58">
                <a:extLst>
                  <a:ext uri="{FF2B5EF4-FFF2-40B4-BE49-F238E27FC236}">
                    <a16:creationId xmlns:a16="http://schemas.microsoft.com/office/drawing/2014/main" id="{51923828-D3C6-42A0-83E2-695F7E31DE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A34B1D08-5840-4711-A6E9-43984C9A2292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69" name="Прямая соединительная линия 68">
                <a:extLst>
                  <a:ext uri="{FF2B5EF4-FFF2-40B4-BE49-F238E27FC236}">
                    <a16:creationId xmlns:a16="http://schemas.microsoft.com/office/drawing/2014/main" id="{4932452A-625C-4853-BC7D-5E09CC7E862B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Прямая соединительная линия 69">
                <a:extLst>
                  <a:ext uri="{FF2B5EF4-FFF2-40B4-BE49-F238E27FC236}">
                    <a16:creationId xmlns:a16="http://schemas.microsoft.com/office/drawing/2014/main" id="{AD6C0676-11E7-4EBF-BAD0-D62FC357E2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46AEE76B-0A14-41AF-A824-792C2A1C5298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72" name="Группа 71">
              <a:extLst>
                <a:ext uri="{FF2B5EF4-FFF2-40B4-BE49-F238E27FC236}">
                  <a16:creationId xmlns:a16="http://schemas.microsoft.com/office/drawing/2014/main" id="{3CF9ED15-3177-44BE-9FAB-52B9F1A705BB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73" name="Прямая соединительная линия 72">
                <a:extLst>
                  <a:ext uri="{FF2B5EF4-FFF2-40B4-BE49-F238E27FC236}">
                    <a16:creationId xmlns:a16="http://schemas.microsoft.com/office/drawing/2014/main" id="{601C145A-C189-4DC3-80DA-F394494717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Прямая соединительная линия 73">
                <a:extLst>
                  <a:ext uri="{FF2B5EF4-FFF2-40B4-BE49-F238E27FC236}">
                    <a16:creationId xmlns:a16="http://schemas.microsoft.com/office/drawing/2014/main" id="{1A7D4543-4118-49C2-B359-34FD78B288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A544762A-A2EE-486B-AE3E-84A270966A42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38FDA7D0-6871-471E-A61F-CD646A07AB82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6ED213A2-173A-4986-8A49-65A8C4FA84D2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34F5E77F-57EB-4E5A-B8DB-6E1CAAA73C1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98B21D05-F3EF-4A8D-B564-DF503F214DB5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84" name="Прямая соединительная линия 83">
                <a:extLst>
                  <a:ext uri="{FF2B5EF4-FFF2-40B4-BE49-F238E27FC236}">
                    <a16:creationId xmlns:a16="http://schemas.microsoft.com/office/drawing/2014/main" id="{0E23C13E-2E37-4EAA-9584-8B01A65B453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" name="Прямая соединительная линия 84">
                <a:extLst>
                  <a:ext uri="{FF2B5EF4-FFF2-40B4-BE49-F238E27FC236}">
                    <a16:creationId xmlns:a16="http://schemas.microsoft.com/office/drawing/2014/main" id="{17182278-E15E-4196-AD50-0BA87CE73128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77" name="Группа 176">
              <a:extLst>
                <a:ext uri="{FF2B5EF4-FFF2-40B4-BE49-F238E27FC236}">
                  <a16:creationId xmlns:a16="http://schemas.microsoft.com/office/drawing/2014/main" id="{674B53D5-4B6A-4537-8B87-22CF1477FF6B}"/>
                </a:ext>
              </a:extLst>
            </p:cNvPr>
            <p:cNvGrpSpPr/>
            <p:nvPr/>
          </p:nvGrpSpPr>
          <p:grpSpPr>
            <a:xfrm>
              <a:off x="3829458" y="537305"/>
              <a:ext cx="307417" cy="307417"/>
              <a:chOff x="9339404" y="-3787775"/>
              <a:chExt cx="146050" cy="146050"/>
            </a:xfrm>
          </p:grpSpPr>
          <p:cxnSp>
            <p:nvCxnSpPr>
              <p:cNvPr id="178" name="Прямая соединительная линия 177">
                <a:extLst>
                  <a:ext uri="{FF2B5EF4-FFF2-40B4-BE49-F238E27FC236}">
                    <a16:creationId xmlns:a16="http://schemas.microsoft.com/office/drawing/2014/main" id="{1AE672B2-263D-4822-8C89-125D61345A3F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9" name="Прямая соединительная линия 178">
                <a:extLst>
                  <a:ext uri="{FF2B5EF4-FFF2-40B4-BE49-F238E27FC236}">
                    <a16:creationId xmlns:a16="http://schemas.microsoft.com/office/drawing/2014/main" id="{1E7F5969-6F61-473D-AC71-32967183B41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5C6434-EF99-A22F-0646-38F16B092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27"/>
          <a:stretch/>
        </p:blipFill>
        <p:spPr>
          <a:xfrm>
            <a:off x="799474" y="895548"/>
            <a:ext cx="2612196" cy="50478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CF14C5-AD5B-DF02-9F36-57D7D89D4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320" y="5979262"/>
            <a:ext cx="4418891" cy="399837"/>
          </a:xfrm>
          <a:prstGeom prst="rect">
            <a:avLst/>
          </a:prstGeom>
        </p:spPr>
      </p:pic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0E0E1D4-A029-4362-8916-FB912277F4A3}"/>
              </a:ext>
            </a:extLst>
          </p:cNvPr>
          <p:cNvSpPr/>
          <p:nvPr/>
        </p:nvSpPr>
        <p:spPr>
          <a:xfrm>
            <a:off x="730219" y="2872126"/>
            <a:ext cx="65595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rgbClr val="000000"/>
                </a:solidFill>
              </a:rPr>
              <a:t>Методические материалы для участников </a:t>
            </a:r>
          </a:p>
          <a:p>
            <a:pPr lvl="0"/>
            <a:r>
              <a:rPr lang="ru-RU" dirty="0">
                <a:solidFill>
                  <a:srgbClr val="000000"/>
                </a:solidFill>
              </a:rPr>
              <a:t>хакатона «Tender Hack — Москва»: 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AD780-8064-5534-1349-77BA15C192B8}"/>
              </a:ext>
            </a:extLst>
          </p:cNvPr>
          <p:cNvSpPr txBox="1"/>
          <p:nvPr/>
        </p:nvSpPr>
        <p:spPr>
          <a:xfrm>
            <a:off x="1756445" y="1317079"/>
            <a:ext cx="6479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spc="30" dirty="0"/>
              <a:t>ПЕРМЬ</a:t>
            </a:r>
          </a:p>
        </p:txBody>
      </p:sp>
    </p:spTree>
    <p:extLst>
      <p:ext uri="{BB962C8B-B14F-4D97-AF65-F5344CB8AC3E}">
        <p14:creationId xmlns:p14="http://schemas.microsoft.com/office/powerpoint/2010/main" val="25694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91F3F-2EFD-BC21-E875-20B9D973DF55}"/>
              </a:ext>
            </a:extLst>
          </p:cNvPr>
          <p:cNvSpPr txBox="1"/>
          <p:nvPr/>
        </p:nvSpPr>
        <p:spPr>
          <a:xfrm>
            <a:off x="683670" y="828919"/>
            <a:ext cx="11026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Ключевые задачи хакатона: 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EA1053F-02F1-4D3D-89A0-2A813ADAB948}"/>
              </a:ext>
            </a:extLst>
          </p:cNvPr>
          <p:cNvSpPr txBox="1"/>
          <p:nvPr/>
        </p:nvSpPr>
        <p:spPr>
          <a:xfrm>
            <a:off x="667495" y="1490881"/>
            <a:ext cx="1057016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/>
              <a:t>• </a:t>
            </a:r>
            <a:r>
              <a:rPr lang="ru-RU" sz="1600" dirty="0">
                <a:latin typeface="+mj-lt"/>
              </a:rPr>
              <a:t>Проанализировать предоставленные организаторами исходные данные.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Реализовать методику «обучаемого» семантически и морфологически точного поиска: система должна ранжировать результаты выше для тех СТЕ, которые наиболее релевантны конкретному пользователю, основываясь на истории его закупок и взаимодействии с позициями каталога.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Реализовать механизм работы с синонимами и исправления опечаток.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Исследовать оптимальные метрики, которые могут улучшить качество поиска. Составить итоговый список метрик для включения в систему с подробным обоснованием выбора.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i="1" dirty="0">
                <a:latin typeface="+mj-lt"/>
              </a:rPr>
              <a:t>Важно: Индексация должна быть динамической: система должна перестраивать выдачу по мере накопления данных о поведении конкретного заказчика.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 Обеспечить удобный и интуитивно понятный пользовательский веб-интерфейс;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 Протестировать систему на реальных кейсах;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 Предусмотреть возможность масштабирования системы;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 Продемонстрировать работоспособность проекта;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1600" dirty="0">
                <a:latin typeface="+mj-lt"/>
              </a:rPr>
              <a:t>•  Презентовать проект. Разработать схему реализации в нотации BPMN.</a:t>
            </a:r>
          </a:p>
        </p:txBody>
      </p:sp>
    </p:spTree>
    <p:extLst>
      <p:ext uri="{BB962C8B-B14F-4D97-AF65-F5344CB8AC3E}">
        <p14:creationId xmlns:p14="http://schemas.microsoft.com/office/powerpoint/2010/main" val="370400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0CDBACE-5C15-BCC0-75E5-6FBE95EAE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653765" y="2579213"/>
            <a:ext cx="967812" cy="1007477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C9FC28E3-9944-E3E8-83E4-00D697D8C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6970">
            <a:off x="8873078" y="3418373"/>
            <a:ext cx="1432538" cy="148527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F5BFD294-5467-7FF9-50E9-DE28817CD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56089">
            <a:off x="10014730" y="1589500"/>
            <a:ext cx="891169" cy="92397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96D871-70C9-4EDB-B9FC-42F46FFB316C}"/>
              </a:ext>
            </a:extLst>
          </p:cNvPr>
          <p:cNvSpPr txBox="1"/>
          <p:nvPr/>
        </p:nvSpPr>
        <p:spPr>
          <a:xfrm>
            <a:off x="726786" y="891537"/>
            <a:ext cx="110260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Пользователь сервиса должен иметь возможность: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E78330-F585-4133-8B5B-9F8F9B2A39F9}"/>
              </a:ext>
            </a:extLst>
          </p:cNvPr>
          <p:cNvSpPr txBox="1"/>
          <p:nvPr/>
        </p:nvSpPr>
        <p:spPr>
          <a:xfrm>
            <a:off x="741940" y="2051261"/>
            <a:ext cx="1079158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200" dirty="0">
                <a:latin typeface="+mj-lt"/>
              </a:rPr>
              <a:t>1. Вводить название СТЕ в поисковую строку и получать персонализированную выдачу, </a:t>
            </a:r>
            <a:r>
              <a:rPr lang="ru-RU" sz="2200" dirty="0" err="1">
                <a:latin typeface="+mj-lt"/>
              </a:rPr>
              <a:t>отранжированную</a:t>
            </a:r>
            <a:r>
              <a:rPr lang="ru-RU" sz="2200" dirty="0">
                <a:latin typeface="+mj-lt"/>
              </a:rPr>
              <a:t> с учетом истории его закупок и взаимодействий с позициями каталога.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en-US" sz="2200" dirty="0">
                <a:latin typeface="+mj-lt"/>
              </a:rPr>
              <a:t>2. </a:t>
            </a:r>
            <a:r>
              <a:rPr lang="ru-RU" sz="2200" dirty="0">
                <a:latin typeface="+mj-lt"/>
              </a:rPr>
              <a:t>Получать объяснение, почему результаты поиска в разных сессиях отличаются (например, какие действия пользователя повлияли на ранжирование).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200" dirty="0">
                <a:latin typeface="+mj-lt"/>
              </a:rPr>
              <a:t>3</a:t>
            </a:r>
            <a:r>
              <a:rPr lang="en-US" sz="2200" dirty="0">
                <a:latin typeface="+mj-lt"/>
              </a:rPr>
              <a:t>. </a:t>
            </a:r>
            <a:r>
              <a:rPr lang="ru-RU" sz="2200" dirty="0">
                <a:latin typeface="+mj-lt"/>
              </a:rPr>
              <a:t>Видеть, как система исправляет опечатки в поисковом запросе и учитывает синонимы для более точного подбора СТЕ.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200" dirty="0">
                <a:latin typeface="+mj-lt"/>
              </a:rPr>
              <a:t>4</a:t>
            </a:r>
            <a:r>
              <a:rPr lang="en-US" sz="2200" dirty="0">
                <a:latin typeface="+mj-lt"/>
              </a:rPr>
              <a:t>. </a:t>
            </a:r>
            <a:r>
              <a:rPr lang="ru-RU" sz="2200" dirty="0">
                <a:latin typeface="+mj-lt"/>
              </a:rPr>
              <a:t>Наблюдать динамическую индексацию действии: к примеру, после перехода на карточку товара (или быстрого возврата к поиску) последующая выдача по аналогичным запросам должна изменяться в соответствии с его поведением.</a:t>
            </a:r>
          </a:p>
        </p:txBody>
      </p:sp>
    </p:spTree>
    <p:extLst>
      <p:ext uri="{BB962C8B-B14F-4D97-AF65-F5344CB8AC3E}">
        <p14:creationId xmlns:p14="http://schemas.microsoft.com/office/powerpoint/2010/main" val="36942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91F3F-2EFD-BC21-E875-20B9D973DF55}"/>
              </a:ext>
            </a:extLst>
          </p:cNvPr>
          <p:cNvSpPr txBox="1"/>
          <p:nvPr/>
        </p:nvSpPr>
        <p:spPr>
          <a:xfrm>
            <a:off x="667495" y="1066917"/>
            <a:ext cx="5074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Ограничения: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7B6AF21-D25C-2153-34D8-F2173476B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098" y="3914578"/>
            <a:ext cx="6565450" cy="362448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5651CF-B202-4633-81A4-0BE933F1F92B}"/>
              </a:ext>
            </a:extLst>
          </p:cNvPr>
          <p:cNvSpPr txBox="1"/>
          <p:nvPr/>
        </p:nvSpPr>
        <p:spPr>
          <a:xfrm>
            <a:off x="683669" y="1733821"/>
            <a:ext cx="1119090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1. Решение должно работать на операционной системе семейства </a:t>
            </a:r>
            <a:r>
              <a:rPr lang="ru-RU" sz="2000" dirty="0" err="1">
                <a:latin typeface="+mj-lt"/>
              </a:rPr>
              <a:t>Linux</a:t>
            </a:r>
            <a:r>
              <a:rPr lang="ru-RU" sz="2000" dirty="0">
                <a:latin typeface="+mj-lt"/>
              </a:rPr>
              <a:t> и предоставлять веб-интерфейс.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2. В рамках хакатона ваша интеллектуальная система поиска должна функционировать ИСКЛЮЧИТЕЛЬНО на серверах, контролируемых вашей командой, без привлечения сторонних ресурсов. Это означает полный запрет на использование ЛЮБЫХ внешних API, включая: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- сторонние поисковые движки: </a:t>
            </a:r>
            <a:r>
              <a:rPr lang="ru-RU" sz="2000" dirty="0" err="1">
                <a:latin typeface="+mj-lt"/>
              </a:rPr>
              <a:t>Яндекс.Поиск</a:t>
            </a:r>
            <a:r>
              <a:rPr lang="ru-RU" sz="2000" dirty="0">
                <a:latin typeface="+mj-lt"/>
              </a:rPr>
              <a:t>, </a:t>
            </a:r>
            <a:r>
              <a:rPr lang="ru-RU" sz="2000" dirty="0" err="1">
                <a:latin typeface="+mj-lt"/>
              </a:rPr>
              <a:t>Google</a:t>
            </a:r>
            <a:r>
              <a:rPr lang="ru-RU" sz="2000" dirty="0">
                <a:latin typeface="+mj-lt"/>
              </a:rPr>
              <a:t> </a:t>
            </a:r>
            <a:r>
              <a:rPr lang="ru-RU" sz="2000" dirty="0" err="1">
                <a:latin typeface="+mj-lt"/>
              </a:rPr>
              <a:t>Search</a:t>
            </a:r>
            <a:r>
              <a:rPr lang="ru-RU" sz="2000" dirty="0">
                <a:latin typeface="+mj-lt"/>
              </a:rPr>
              <a:t> API, </a:t>
            </a:r>
            <a:r>
              <a:rPr lang="ru-RU" sz="2000" dirty="0" err="1">
                <a:latin typeface="+mj-lt"/>
              </a:rPr>
              <a:t>Bing</a:t>
            </a:r>
            <a:r>
              <a:rPr lang="ru-RU" sz="2000" dirty="0">
                <a:latin typeface="+mj-lt"/>
              </a:rPr>
              <a:t> </a:t>
            </a:r>
            <a:r>
              <a:rPr lang="ru-RU" sz="2000" dirty="0" err="1">
                <a:latin typeface="+mj-lt"/>
              </a:rPr>
              <a:t>Search</a:t>
            </a:r>
            <a:r>
              <a:rPr lang="ru-RU" sz="2000" dirty="0">
                <a:latin typeface="+mj-lt"/>
              </a:rPr>
              <a:t> API и аналогичные;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- внешние API больших языковых моделей (LLM): </a:t>
            </a:r>
            <a:r>
              <a:rPr lang="ru-RU" sz="2000" dirty="0" err="1">
                <a:latin typeface="+mj-lt"/>
              </a:rPr>
              <a:t>OpenAI</a:t>
            </a:r>
            <a:r>
              <a:rPr lang="ru-RU" sz="2000" dirty="0">
                <a:latin typeface="+mj-lt"/>
              </a:rPr>
              <a:t> GPT, </a:t>
            </a:r>
            <a:r>
              <a:rPr lang="ru-RU" sz="2000" dirty="0" err="1">
                <a:latin typeface="+mj-lt"/>
              </a:rPr>
              <a:t>Google</a:t>
            </a:r>
            <a:r>
              <a:rPr lang="ru-RU" sz="2000" dirty="0">
                <a:latin typeface="+mj-lt"/>
              </a:rPr>
              <a:t> </a:t>
            </a:r>
            <a:r>
              <a:rPr lang="ru-RU" sz="2000" dirty="0" err="1">
                <a:latin typeface="+mj-lt"/>
              </a:rPr>
              <a:t>Gemini</a:t>
            </a:r>
            <a:r>
              <a:rPr lang="ru-RU" sz="2000" dirty="0">
                <a:latin typeface="+mj-lt"/>
              </a:rPr>
              <a:t>, </a:t>
            </a:r>
            <a:r>
              <a:rPr lang="ru-RU" sz="2000" dirty="0" err="1">
                <a:latin typeface="+mj-lt"/>
              </a:rPr>
              <a:t>Anthropic</a:t>
            </a:r>
            <a:r>
              <a:rPr lang="ru-RU" sz="2000" dirty="0">
                <a:latin typeface="+mj-lt"/>
              </a:rPr>
              <a:t> </a:t>
            </a:r>
            <a:r>
              <a:rPr lang="ru-RU" sz="2000" dirty="0" err="1">
                <a:latin typeface="+mj-lt"/>
              </a:rPr>
              <a:t>Claude</a:t>
            </a:r>
            <a:r>
              <a:rPr lang="ru-RU" sz="2000" dirty="0">
                <a:latin typeface="+mj-lt"/>
              </a:rPr>
              <a:t> и другие подобные сервисы. </a:t>
            </a:r>
          </a:p>
        </p:txBody>
      </p:sp>
    </p:spTree>
    <p:extLst>
      <p:ext uri="{BB962C8B-B14F-4D97-AF65-F5344CB8AC3E}">
        <p14:creationId xmlns:p14="http://schemas.microsoft.com/office/powerpoint/2010/main" val="251285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91F3F-2EFD-BC21-E875-20B9D973DF55}"/>
              </a:ext>
            </a:extLst>
          </p:cNvPr>
          <p:cNvSpPr txBox="1"/>
          <p:nvPr/>
        </p:nvSpPr>
        <p:spPr>
          <a:xfrm>
            <a:off x="667495" y="1066917"/>
            <a:ext cx="5074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Ограничения: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7B6AF21-D25C-2153-34D8-F2173476B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5260" y="3429000"/>
            <a:ext cx="6565450" cy="362448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5651CF-B202-4633-81A4-0BE933F1F92B}"/>
              </a:ext>
            </a:extLst>
          </p:cNvPr>
          <p:cNvSpPr txBox="1"/>
          <p:nvPr/>
        </p:nvSpPr>
        <p:spPr>
          <a:xfrm>
            <a:off x="704237" y="2000494"/>
            <a:ext cx="1038207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400" dirty="0"/>
              <a:t>3. Запрещено использовать </a:t>
            </a:r>
            <a:r>
              <a:rPr lang="ru-RU" sz="2400" dirty="0" err="1"/>
              <a:t>low-code</a:t>
            </a:r>
            <a:r>
              <a:rPr lang="ru-RU" sz="2400" dirty="0"/>
              <a:t> и </a:t>
            </a:r>
            <a:r>
              <a:rPr lang="ru-RU" sz="2400" dirty="0" err="1"/>
              <a:t>no-code</a:t>
            </a:r>
            <a:r>
              <a:rPr lang="ru-RU" sz="2400" dirty="0"/>
              <a:t> платформы.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endParaRPr lang="ru-RU" sz="2200" dirty="0">
              <a:latin typeface="+mj-lt"/>
            </a:endParaRP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200" dirty="0">
                <a:latin typeface="+mj-lt"/>
              </a:rPr>
              <a:t>4. Разрешено использовать любые открытые ML-модели и нейросети, но выбор должен быть рациональным и соразмерным задачам и ресурсам. Предпочтение будет отдаваться легковесным решениям с высокой скоростью </a:t>
            </a:r>
            <a:r>
              <a:rPr lang="ru-RU" sz="2200" dirty="0" err="1">
                <a:latin typeface="+mj-lt"/>
              </a:rPr>
              <a:t>инференса</a:t>
            </a:r>
            <a:r>
              <a:rPr lang="ru-RU" sz="2200" dirty="0">
                <a:latin typeface="+mj-lt"/>
              </a:rPr>
              <a:t> при ограниченных вычислительных мощностях. Необоснованное применение «тяжёлых» моделей будет считаться нерациональным и может снизить итоговую оценку.</a:t>
            </a:r>
          </a:p>
        </p:txBody>
      </p:sp>
    </p:spTree>
    <p:extLst>
      <p:ext uri="{BB962C8B-B14F-4D97-AF65-F5344CB8AC3E}">
        <p14:creationId xmlns:p14="http://schemas.microsoft.com/office/powerpoint/2010/main" val="65903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91F3F-2EFD-BC21-E875-20B9D973DF55}"/>
              </a:ext>
            </a:extLst>
          </p:cNvPr>
          <p:cNvSpPr txBox="1"/>
          <p:nvPr/>
        </p:nvSpPr>
        <p:spPr>
          <a:xfrm>
            <a:off x="655442" y="1402830"/>
            <a:ext cx="5074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Этапы защиты: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C78B8A3-C2FA-313E-7C10-83C8FD78B593}"/>
              </a:ext>
            </a:extLst>
          </p:cNvPr>
          <p:cNvSpPr txBox="1"/>
          <p:nvPr/>
        </p:nvSpPr>
        <p:spPr>
          <a:xfrm>
            <a:off x="677491" y="2241632"/>
            <a:ext cx="735031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b="1" dirty="0">
                <a:latin typeface="+mj-lt"/>
              </a:rPr>
              <a:t>Этап 1: </a:t>
            </a:r>
            <a:r>
              <a:rPr lang="ru-RU" sz="2000" dirty="0">
                <a:latin typeface="+mj-lt"/>
              </a:rPr>
              <a:t>Защита проектов (презентация до 5 минут со схемой реализации в нотации BPMN). Параллельно второй участник команды демонстрирует реальные кейсы. Максимальное количество баллов по критериям — 100. 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b="1" dirty="0">
                <a:latin typeface="+mj-lt"/>
              </a:rPr>
              <a:t>Этап 2: </a:t>
            </a:r>
            <a:r>
              <a:rPr lang="ru-RU" sz="2000" dirty="0">
                <a:latin typeface="+mj-lt"/>
              </a:rPr>
              <a:t>Отправка ссылок на репозитории (или в архиве) с кодом и визуальной частью. Защита топ-5 решений (презентация до 10 минут со схемой реализации в нотации BPMN, затем 10 минут на вопросы жюри). Максимальное количество баллов по критериям — 100. Баллы суммируются с баллами первого этапа.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87C3152-2290-21F5-2F3F-3230FE64B0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4525"/>
          <a:stretch/>
        </p:blipFill>
        <p:spPr>
          <a:xfrm>
            <a:off x="8201376" y="371438"/>
            <a:ext cx="5195110" cy="587217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6E1429A-41FB-5FB2-8D2C-1F7A7D57F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154049">
            <a:off x="6066937" y="5892400"/>
            <a:ext cx="782562" cy="81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7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D52375-DA16-2960-301C-FB466FE5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5741" y="3494961"/>
            <a:ext cx="3685894" cy="4559474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F9A579-90C7-2028-DFDC-9EFEAA7B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8594" y="4768673"/>
            <a:ext cx="1983794" cy="21598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E69EE1-5151-6BC7-D8D5-92110FFF9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56089">
            <a:off x="11079700" y="2292549"/>
            <a:ext cx="511067" cy="52987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93FF28F-5F37-A5BD-3DF6-7BA1AD466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11228">
            <a:off x="10390016" y="4408366"/>
            <a:ext cx="680919" cy="7088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DA32CF4-C131-41DE-AC3F-BBF104CF2716}"/>
              </a:ext>
            </a:extLst>
          </p:cNvPr>
          <p:cNvSpPr txBox="1"/>
          <p:nvPr/>
        </p:nvSpPr>
        <p:spPr>
          <a:xfrm>
            <a:off x="490021" y="898089"/>
            <a:ext cx="5074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Критерии оценки: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0E200B-95E8-4965-81D5-50330939589E}"/>
              </a:ext>
            </a:extLst>
          </p:cNvPr>
          <p:cNvSpPr txBox="1"/>
          <p:nvPr/>
        </p:nvSpPr>
        <p:spPr>
          <a:xfrm>
            <a:off x="512070" y="1736891"/>
            <a:ext cx="919948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1. Наличие работоспособного прототипа – 40 баллов.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2. Точность семантического и морфологического поиска, качество работы с синонимами и исправлением опечаток – 25 баллов.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3. Качество персонализации на основе истории закупок и поведенческих факторов: учет переходов, целевых действий и негативных сигналов при ранжировании и т.д. – 25 баллов.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4. Обоснование внедряемых метрик оценки качества персонализированного поиска – 10 баллов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313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D52375-DA16-2960-301C-FB466FE5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5741" y="3494961"/>
            <a:ext cx="3685894" cy="4559474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7DD0140-C807-485F-90BE-58511D424260}"/>
              </a:ext>
            </a:extLst>
          </p:cNvPr>
          <p:cNvGrpSpPr/>
          <p:nvPr/>
        </p:nvGrpSpPr>
        <p:grpSpPr>
          <a:xfrm>
            <a:off x="539353" y="241437"/>
            <a:ext cx="3561914" cy="1427248"/>
            <a:chOff x="2182147" y="484519"/>
            <a:chExt cx="3561914" cy="142724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8F1671B-9C47-4E92-B6D6-EC22F76A835D}"/>
                </a:ext>
              </a:extLst>
            </p:cNvPr>
            <p:cNvGrpSpPr/>
            <p:nvPr/>
          </p:nvGrpSpPr>
          <p:grpSpPr>
            <a:xfrm rot="2700000">
              <a:off x="2257211" y="1361657"/>
              <a:ext cx="186933" cy="337061"/>
              <a:chOff x="9064822" y="-3168367"/>
              <a:chExt cx="186933" cy="337061"/>
            </a:xfrm>
          </p:grpSpPr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710CCBA0-082E-4B90-8E03-9A8AB26A933B}"/>
                  </a:ext>
                </a:extLst>
              </p:cNvPr>
              <p:cNvCxnSpPr/>
              <p:nvPr userDrawn="1"/>
            </p:nvCxnSpPr>
            <p:spPr>
              <a:xfrm>
                <a:off x="9215438" y="-3107531"/>
                <a:ext cx="0" cy="27622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8527B669-C3C7-4F9E-8634-13053A8A7E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8900000" flipH="1">
                <a:off x="9064822" y="-3168367"/>
                <a:ext cx="186933" cy="18693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2A0B388C-5F5A-443F-8FDE-92319020AB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974A90F-3DC4-45AD-9CC9-5C9DE5A16A0D}"/>
                </a:ext>
              </a:extLst>
            </p:cNvPr>
            <p:cNvGrpSpPr/>
            <p:nvPr/>
          </p:nvGrpSpPr>
          <p:grpSpPr>
            <a:xfrm>
              <a:off x="2760941" y="1781025"/>
              <a:ext cx="130742" cy="130742"/>
              <a:chOff x="9339404" y="-3787775"/>
              <a:chExt cx="146050" cy="146050"/>
            </a:xfrm>
          </p:grpSpPr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2FB32638-A7BF-461D-8AC8-C020977DA8EE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A5AE4C2-F12B-47BB-A9F1-A7D1C96F5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EA607C9-FDBF-4BB7-958A-FFF1FB0212F2}"/>
                </a:ext>
              </a:extLst>
            </p:cNvPr>
            <p:cNvSpPr/>
            <p:nvPr/>
          </p:nvSpPr>
          <p:spPr>
            <a:xfrm rot="2700000">
              <a:off x="3169480" y="1151397"/>
              <a:ext cx="142192" cy="142192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 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31AADEF-2655-424E-BCC6-A9EABB088817}"/>
                </a:ext>
              </a:extLst>
            </p:cNvPr>
            <p:cNvGrpSpPr/>
            <p:nvPr/>
          </p:nvGrpSpPr>
          <p:grpSpPr>
            <a:xfrm rot="2700000">
              <a:off x="3937325" y="1374527"/>
              <a:ext cx="77754" cy="307908"/>
              <a:chOff x="9098757" y="-3107531"/>
              <a:chExt cx="59531" cy="235743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1E2EA37-4F2E-4A0C-B248-A8D009AC33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158288" y="-3107531"/>
                <a:ext cx="0" cy="235743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3697B2B4-451D-42B2-ACB7-4F0680B15C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98757" y="-3107531"/>
                <a:ext cx="0" cy="164812"/>
              </a:xfrm>
              <a:prstGeom prst="line">
                <a:avLst/>
              </a:prstGeom>
              <a:ln>
                <a:solidFill>
                  <a:schemeClr val="bg1"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CE2F0C4-144C-4C29-84F7-2F1154419F8B}"/>
                </a:ext>
              </a:extLst>
            </p:cNvPr>
            <p:cNvSpPr/>
            <p:nvPr/>
          </p:nvSpPr>
          <p:spPr>
            <a:xfrm rot="2700000">
              <a:off x="4500268" y="1027255"/>
              <a:ext cx="52976" cy="5297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 </a:t>
              </a:r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35E8C9E-9BA1-4E77-8CD6-D2E008C22C9C}"/>
                </a:ext>
              </a:extLst>
            </p:cNvPr>
            <p:cNvGrpSpPr/>
            <p:nvPr/>
          </p:nvGrpSpPr>
          <p:grpSpPr>
            <a:xfrm>
              <a:off x="5031701" y="570556"/>
              <a:ext cx="64242" cy="64242"/>
              <a:chOff x="9339404" y="-3787775"/>
              <a:chExt cx="146050" cy="146050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4537133-CEEE-466B-B8D7-93DD5F33CE6D}"/>
                  </a:ext>
                </a:extLst>
              </p:cNvPr>
              <p:cNvCxnSpPr/>
              <p:nvPr userDrawn="1"/>
            </p:nvCxnSpPr>
            <p:spPr>
              <a:xfrm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31B8486B-B66C-413C-B685-F5B77FE1E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9412429" y="-3787775"/>
                <a:ext cx="0" cy="146050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4211926-1BAB-4A79-B48C-DF85080F40CC}"/>
                </a:ext>
              </a:extLst>
            </p:cNvPr>
            <p:cNvGrpSpPr/>
            <p:nvPr/>
          </p:nvGrpSpPr>
          <p:grpSpPr>
            <a:xfrm>
              <a:off x="5137375" y="484519"/>
              <a:ext cx="606686" cy="606684"/>
              <a:chOff x="10047397" y="-3072720"/>
              <a:chExt cx="293166" cy="293165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3B46432B-6B0F-477D-8E77-57F2DA1D80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10047397" y="-3072720"/>
                <a:ext cx="293166" cy="293165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662802C8-02A2-44AF-922E-9B225E6F6099}"/>
                  </a:ext>
                </a:extLst>
              </p:cNvPr>
              <p:cNvCxnSpPr/>
              <p:nvPr userDrawn="1"/>
            </p:nvCxnSpPr>
            <p:spPr>
              <a:xfrm flipH="1">
                <a:off x="10171864" y="-3009900"/>
                <a:ext cx="167523" cy="167523"/>
              </a:xfrm>
              <a:prstGeom prst="line">
                <a:avLst/>
              </a:prstGeom>
              <a:noFill/>
              <a:ln w="6350">
                <a:solidFill>
                  <a:schemeClr val="bg1"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F9A579-90C7-2028-DFDC-9EFEAA7B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8594" y="4768673"/>
            <a:ext cx="1983794" cy="21598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E69EE1-5151-6BC7-D8D5-92110FFF9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56089">
            <a:off x="11079700" y="2292549"/>
            <a:ext cx="511067" cy="52987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93FF28F-5F37-A5BD-3DF6-7BA1AD466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11228">
            <a:off x="10390016" y="4408366"/>
            <a:ext cx="680919" cy="7088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DA32CF4-C131-41DE-AC3F-BBF104CF2716}"/>
              </a:ext>
            </a:extLst>
          </p:cNvPr>
          <p:cNvSpPr txBox="1"/>
          <p:nvPr/>
        </p:nvSpPr>
        <p:spPr>
          <a:xfrm>
            <a:off x="512070" y="900699"/>
            <a:ext cx="5074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3200" b="1" dirty="0">
                <a:latin typeface="+mj-lt"/>
              </a:rPr>
              <a:t>Материалы: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0E200B-95E8-4965-81D5-50330939589E}"/>
              </a:ext>
            </a:extLst>
          </p:cNvPr>
          <p:cNvSpPr txBox="1"/>
          <p:nvPr/>
        </p:nvSpPr>
        <p:spPr>
          <a:xfrm>
            <a:off x="512070" y="1736891"/>
            <a:ext cx="986493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en-US" u="sng" dirty="0">
                <a:hlinkClick r:id="rId6"/>
              </a:rPr>
              <a:t>https://disk.yandex.ru/d/ZrPvVooGg_WQGQ</a:t>
            </a:r>
            <a:r>
              <a:rPr lang="ru-RU" u="sng" dirty="0"/>
              <a:t> </a:t>
            </a:r>
            <a:r>
              <a:rPr lang="ru-RU" sz="2000" b="1" dirty="0">
                <a:latin typeface="+mj-lt"/>
              </a:rPr>
              <a:t>- Ссылка на исходный </a:t>
            </a:r>
            <a:r>
              <a:rPr lang="ru-RU" sz="2000" b="1" dirty="0" err="1">
                <a:latin typeface="+mj-lt"/>
              </a:rPr>
              <a:t>датасет</a:t>
            </a:r>
            <a:r>
              <a:rPr lang="ru-RU" sz="2000" b="1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(</a:t>
            </a:r>
            <a:r>
              <a:rPr lang="ru-RU" sz="1200" b="1" dirty="0">
                <a:latin typeface="+mj-lt"/>
              </a:rPr>
              <a:t>Контракты</a:t>
            </a:r>
            <a:r>
              <a:rPr lang="ru-RU" sz="1200" dirty="0">
                <a:latin typeface="+mj-lt"/>
              </a:rPr>
              <a:t> - Наименование закупки, Идентификатор контракта, Идентификатор СТЕ, Дата заключения контракта, Стоимость контракта, ИНН заказчика, Наименование заказчика, Регион заказчика, ИНН поставщика, Наименование поставщика, Регион поставщика</a:t>
            </a:r>
            <a:r>
              <a:rPr lang="en-US" sz="1200" dirty="0">
                <a:latin typeface="+mj-lt"/>
              </a:rPr>
              <a:t>;</a:t>
            </a:r>
            <a:br>
              <a:rPr lang="ru-RU" sz="1200" dirty="0">
                <a:latin typeface="+mj-lt"/>
              </a:rPr>
            </a:br>
            <a:r>
              <a:rPr lang="ru-RU" sz="1200" b="1" dirty="0">
                <a:latin typeface="+mj-lt"/>
              </a:rPr>
              <a:t>СТЕ</a:t>
            </a:r>
            <a:r>
              <a:rPr lang="ru-RU" sz="1200" dirty="0">
                <a:latin typeface="+mj-lt"/>
              </a:rPr>
              <a:t> - </a:t>
            </a:r>
            <a:r>
              <a:rPr lang="ru-RU" sz="1200" dirty="0"/>
              <a:t>Идентификатор СТЕ, Наименование, Категория, Атрибуты)</a:t>
            </a:r>
            <a:endParaRPr lang="ru-RU" sz="1200" dirty="0">
              <a:latin typeface="+mj-lt"/>
            </a:endParaRP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https://zakupki.mos.ru/ </a:t>
            </a:r>
            <a:r>
              <a:rPr lang="ru-RU" sz="2000" b="1" dirty="0">
                <a:latin typeface="+mj-lt"/>
              </a:rPr>
              <a:t>- Сайт Портал Поставщиков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ru-RU" sz="2000" dirty="0">
                <a:latin typeface="+mj-lt"/>
              </a:rPr>
              <a:t>https://www.figma.com/board/G64ZNZOpvILbIPYx8XVbxO/Portal-Postavshikov-(catalog)?node-id=1-1238&amp;node-type=FRAME&amp;t=3Rn0CFnDsfbnyUAY-0 – </a:t>
            </a:r>
            <a:r>
              <a:rPr lang="ru-RU" sz="2000" b="1" dirty="0">
                <a:latin typeface="+mj-lt"/>
              </a:rPr>
              <a:t>UI-кит Портала Поставщиков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r>
              <a:rPr lang="en-US" sz="2000" dirty="0">
                <a:latin typeface="+mj-lt"/>
              </a:rPr>
              <a:t>https://zakupki.mos.ru/cms/Media/docs/%D0%98%D0%BD%D1%81%D1%82%D1%80%D1%83%D0%BA%D1%86%D0%B8%D1%8F%20%D0%BF%D0%BE%20%D1%80%D0%B0%D0%B1%D0%BE%D1%82%D0%B5%20%D1%81%20%D0%9F%D0%BE%D1%80%D1%82%D0%B0%D0%BB%D0%BE%D0%BC%20%D0%B4%D0%BB%D1%8F%20%D0%B7%D0%B0%D0%BA%D0%B0%D0%B7%D1%87%D0%B8%D0%BA%D0%B0.pdf </a:t>
            </a:r>
            <a:r>
              <a:rPr lang="ru-RU" sz="2000" b="1" dirty="0">
                <a:latin typeface="+mj-lt"/>
              </a:rPr>
              <a:t>- ИНСТРУКЦИЯ ДЛЯ ЗАКАЗЧИКА ПО РАБОТЕ С ПОРТАЛОМ</a:t>
            </a:r>
          </a:p>
          <a:p>
            <a:pPr>
              <a:spcBef>
                <a:spcPts val="1200"/>
              </a:spcBef>
              <a:buClr>
                <a:schemeClr val="bg2"/>
              </a:buClr>
            </a:pP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5233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ZakupkiHack">
      <a:dk1>
        <a:sysClr val="windowText" lastClr="000000"/>
      </a:dk1>
      <a:lt1>
        <a:sysClr val="window" lastClr="FFFFFF"/>
      </a:lt1>
      <a:dk2>
        <a:srgbClr val="350364"/>
      </a:dk2>
      <a:lt2>
        <a:srgbClr val="C613A6"/>
      </a:lt2>
      <a:accent1>
        <a:srgbClr val="255FFF"/>
      </a:accent1>
      <a:accent2>
        <a:srgbClr val="2799D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5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4049</TotalTime>
  <Words>874</Words>
  <Application>Microsoft Office PowerPoint</Application>
  <PresentationFormat>Широкоэкранный</PresentationFormat>
  <Paragraphs>62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Montserrat</vt:lpstr>
      <vt:lpstr>Тема Office</vt:lpstr>
      <vt:lpstr>Разработка персонализированного умного поиска продукции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Сафонова Софья</dc:creator>
  <cp:lastModifiedBy>Гончар Константин Валерьевич</cp:lastModifiedBy>
  <cp:revision>98</cp:revision>
  <dcterms:created xsi:type="dcterms:W3CDTF">2022-09-20T14:01:51Z</dcterms:created>
  <dcterms:modified xsi:type="dcterms:W3CDTF">2026-04-03T12:49:37Z</dcterms:modified>
</cp:coreProperties>
</file>